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поездок пешком, %</c:v>
                </c:pt>
              </c:strCache>
            </c:strRef>
          </c:tx>
          <c:spPr>
            <a:solidFill>
              <a:srgbClr val="1F6F8B"/>
            </a:solidFill>
          </c:spPr>
          <c:dPt>
            <c:idx val="3"/>
            <c:spPr>
              <a:solidFill>
                <a:srgbClr val="D9823B"/>
              </a:solidFill>
            </c:spPr>
          </c:dPt>
          <c:cat>
            <c:strRef>
              <c:f>Sheet1!$A$2:$A$5</c:f>
              <c:strCache>
                <c:ptCount val="4"/>
                <c:pt idx="0">
                  <c:v>Окраина</c:v>
                </c:pt>
                <c:pt idx="1">
                  <c:v>Спальный район</c:v>
                </c:pt>
                <c:pt idx="2">
                  <c:v>Центр</c:v>
                </c:pt>
                <c:pt idx="3">
                  <c:v>Квартал 15 минут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21</c:v>
                </c:pt>
                <c:pt idx="2">
                  <c:v>38</c:v>
                </c:pt>
                <c:pt idx="3">
                  <c:v>54</c:v>
                </c:pt>
              </c:numCache>
            </c:numRef>
          </c:val>
        </c:ser>
        <c:dLbls>
          <c:txPr>
            <a:bodyPr/>
            <a:lstStyle/>
            <a:p>
              <a:pPr>
                <a:defRPr sz="2000">
                  <a:solidFill>
                    <a:srgbClr val="1B232E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800">
                <a:solidFill>
                  <a:srgbClr val="5B667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0000" y="1900000"/>
            <a:ext cx="1067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5B6673"/>
                </a:solidFill>
                <a:latin typeface="Noto Sans"/>
              </a:rPr>
              <a:t>Урбанистика · лекция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2450000"/>
            <a:ext cx="1067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1B232E"/>
                </a:solidFill>
                <a:latin typeface="Noto Sans"/>
              </a:rPr>
              <a:t>Город пятнадцати минут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3900000"/>
            <a:ext cx="1067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5B6673"/>
                </a:solidFill>
                <a:latin typeface="Noto Sans"/>
              </a:rPr>
              <a:t>Как расстояние до школы, врача и магазина меняет жизнь района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0000" y="600000"/>
            <a:ext cx="1067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B232E"/>
                </a:solidFill>
                <a:latin typeface="Noto Sans"/>
              </a:rPr>
              <a:t>Три вопроса жителя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1750000"/>
            <a:ext cx="10672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3000" b="0">
                <a:solidFill>
                  <a:srgbClr val="1B232E"/>
                </a:solidFill>
                <a:latin typeface="Noto Sans"/>
              </a:rPr>
              <a:t>1. Можно ли дойти до всего нужного пешком?</a:t>
            </a:r>
          </a:p>
          <a:p>
            <a:pPr algn="l">
              <a:spcAft>
                <a:spcPts val="1800"/>
              </a:spcAft>
            </a:pPr>
            <a:r>
              <a:rPr sz="3000" b="0">
                <a:solidFill>
                  <a:srgbClr val="1B232E"/>
                </a:solidFill>
                <a:latin typeface="Noto Sans"/>
              </a:rPr>
              <a:t>2. Безопасно ли идти — тротуары, свет, переходы?</a:t>
            </a:r>
          </a:p>
          <a:p>
            <a:pPr algn="l">
              <a:spcAft>
                <a:spcPts val="1800"/>
              </a:spcAft>
            </a:pPr>
            <a:r>
              <a:rPr sz="3000" b="0">
                <a:solidFill>
                  <a:srgbClr val="1B232E"/>
                </a:solidFill>
                <a:latin typeface="Noto Sans"/>
              </a:rPr>
              <a:t>3. Есть ли куда выйти — парк, площадь, двор?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0000" y="500000"/>
            <a:ext cx="1067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B232E"/>
                </a:solidFill>
                <a:latin typeface="Noto Sans"/>
              </a:rPr>
              <a:t>Сколько поездок делают пешком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60000" y="1500000"/>
          <a:ext cx="10672000" cy="47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0000" y="6250000"/>
            <a:ext cx="1067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673"/>
                </a:solidFill>
                <a:latin typeface="Noto Sans"/>
              </a:rPr>
              <a:t>Условные данные для примера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0000" y="500000"/>
            <a:ext cx="1067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B232E"/>
                </a:solidFill>
                <a:latin typeface="Noto Sans"/>
              </a:rPr>
              <a:t>Что должно быть рядом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60000" y="1600000"/>
          <a:ext cx="10672000" cy="4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7333"/>
                <a:gridCol w="3557333"/>
                <a:gridCol w="3557334"/>
              </a:tblGrid>
              <a:tr h="8400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</a:rPr>
                        <a:t>Место</a:t>
                      </a:r>
                    </a:p>
                  </a:txBody>
                  <a:tcPr>
                    <a:solidFill>
                      <a:srgbClr val="1F6F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</a:rPr>
                        <a:t>Пешком</a:t>
                      </a:r>
                    </a:p>
                  </a:txBody>
                  <a:tcPr>
                    <a:solidFill>
                      <a:srgbClr val="1F6F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</a:rPr>
                        <a:t>Как часто</a:t>
                      </a:r>
                    </a:p>
                  </a:txBody>
                  <a:tcPr>
                    <a:solidFill>
                      <a:srgbClr val="1F6F8B"/>
                    </a:solidFill>
                  </a:tcPr>
                </a:tc>
              </a:tr>
              <a:tr h="8400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B232E"/>
                          </a:solidFill>
                        </a:rPr>
                        <a:t>Магазин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B232E"/>
                          </a:solidFill>
                        </a:rPr>
                        <a:t>5 минут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B232E"/>
                          </a:solidFill>
                        </a:rPr>
                        <a:t>каждый день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</a:tr>
              <a:tr h="8400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B232E"/>
                          </a:solidFill>
                        </a:rPr>
                        <a:t>Школа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B232E"/>
                          </a:solidFill>
                        </a:rPr>
                        <a:t>10 минут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B232E"/>
                          </a:solidFill>
                        </a:rPr>
                        <a:t>каждый день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  <a:tr h="8400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B232E"/>
                          </a:solidFill>
                        </a:rPr>
                        <a:t>Поликлиника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B232E"/>
                          </a:solidFill>
                        </a:rPr>
                        <a:t>15 минут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B232E"/>
                          </a:solidFill>
                        </a:rPr>
                        <a:t>раз в месяц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</a:tr>
              <a:tr h="8400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B232E"/>
                          </a:solidFill>
                        </a:rPr>
                        <a:t>Парк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B232E"/>
                          </a:solidFill>
                        </a:rPr>
                        <a:t>10 минут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B232E"/>
                          </a:solidFill>
                        </a:rPr>
                        <a:t>каждую неделю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0000" y="2000000"/>
            <a:ext cx="1067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1B232E"/>
                </a:solidFill>
                <a:latin typeface="Noto Sans"/>
              </a:rPr>
              <a:t>Город удобен, когда до нужного — шаги, а не пробки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4000000"/>
            <a:ext cx="1067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1F6F8B"/>
                </a:solidFill>
                <a:latin typeface="Noto Sans"/>
              </a:rPr>
              <a:t>Вопросы и обсуждение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